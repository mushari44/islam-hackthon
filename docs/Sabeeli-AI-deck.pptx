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128016" cy="3017520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Sabeeli  </a:t>
            </a:r>
            <a:r>
              <a:rPr sz="5400" b="1">
                <a:solidFill>
                  <a:srgbClr val="2EF2C2"/>
                </a:solidFill>
                <a:latin typeface="Amiri"/>
              </a:rPr>
              <a:t>سَبِيلي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Calibri"/>
              </a:rPr>
              <a:t>How the AI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CBCFE6"/>
                </a:solidFill>
                <a:latin typeface="Calibri"/>
              </a:rPr>
              <a:t>Cited answers about Islam in your own language, from the approved sources only, and a da'i when it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Open track · AI in the Service of Islamic Content Challenge 2026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Team: Mushari Alothman, Eman Saheli</a:t>
            </a:r>
          </a:p>
          <a:p>
            <a:pPr algn="l"/>
            <a:r>
              <a:rPr sz="1600" b="0">
                <a:solidFill>
                  <a:srgbClr val="2EF2C2"/>
                </a:solidFill>
                <a:latin typeface="Calibri"/>
              </a:rPr>
              <a:t>Live: sabeeli-self.vercel.app   ·   Code: github.com/mushari44/Islam-hackthon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A fluent answer is not a trustworthy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400">
                <a:solidFill>
                  <a:srgbClr val="0A7A62"/>
                </a:solidFill>
              </a:rPr>
              <a:t>■  </a:t>
            </a:r>
            <a:r>
              <a:rPr sz="2000" b="0">
                <a:solidFill>
                  <a:srgbClr val="1E233F"/>
                </a:solidFill>
                <a:latin typeface="Calibri"/>
              </a:rPr>
              <a:t>Someone curious about Islam, or a new Muslim, asks a chatbot and gets fluent text with no source.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0A7A62"/>
                </a:solidFill>
              </a:rPr>
              <a:t>■  </a:t>
            </a:r>
            <a:r>
              <a:rPr sz="2000" b="0">
                <a:solidFill>
                  <a:srgbClr val="1E233F"/>
                </a:solidFill>
                <a:latin typeface="Calibri"/>
              </a:rPr>
              <a:t>Sometimes the verse is misquoted, or the hadith does not exist. They cannot tell which sentence to trust.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0A7A62"/>
                </a:solidFill>
              </a:rPr>
              <a:t>■  </a:t>
            </a:r>
            <a:r>
              <a:rPr sz="2000" b="0">
                <a:solidFill>
                  <a:srgbClr val="1E233F"/>
                </a:solidFill>
                <a:latin typeface="Calibri"/>
              </a:rPr>
              <a:t>A personal question (marriage, divorce, money) can get a personal "ruling" from a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54480"/>
            <a:ext cx="4023360" cy="420624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61D48"/>
                </a:solidFill>
                <a:latin typeface="Calibri"/>
              </a:rPr>
              <a:t>Sabeeli's promise</a:t>
            </a:r>
          </a:p>
          <a:p>
            <a:pPr algn="ctr"/>
            <a:r>
              <a:rPr sz="8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700" b="0">
                <a:solidFill>
                  <a:srgbClr val="1E233F"/>
                </a:solidFill>
                <a:latin typeface="Calibri"/>
              </a:rPr>
              <a:t>Every sentence shows its approved source</a:t>
            </a:r>
          </a:p>
          <a:p>
            <a:pPr algn="ctr"/>
            <a:r>
              <a:rPr sz="8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700" b="0">
                <a:solidFill>
                  <a:srgbClr val="1E233F"/>
                </a:solidFill>
                <a:latin typeface="Calibri"/>
              </a:rPr>
              <a:t>Quran and hadith text is never generated</a:t>
            </a:r>
          </a:p>
          <a:p>
            <a:pPr algn="ctr"/>
            <a:r>
              <a:rPr sz="8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700" b="0">
                <a:solidFill>
                  <a:srgbClr val="1E233F"/>
                </a:solidFill>
                <a:latin typeface="Calibri"/>
              </a:rPr>
              <a:t>Personal cases go to a person, not a model</a:t>
            </a:r>
          </a:p>
          <a:p>
            <a:pPr algn="ctr"/>
            <a:r>
              <a:rPr sz="8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700" b="0">
                <a:solidFill>
                  <a:srgbClr val="1E233F"/>
                </a:solidFill>
                <a:latin typeface="Calibri"/>
              </a:rPr>
              <a:t>"Not found" beats a guess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WHAT THE AI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One model, four narrow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301752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1  Analyse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Language, content level A-D, personal case, any quoted verse, and 2-4 search phrases in Arabic and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645920"/>
            <a:ext cx="2651760" cy="301752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2  Read a photo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Transcribes a photographed verse or saying. The check itself is done in code, not by the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651760" cy="301752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3  Write the answer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From retrieved passages only, citing every sentence. Scripture only as 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1645920"/>
            <a:ext cx="2651760" cy="301752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4  Draft the referral card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A summary for the da'i that the seeker edits and approves before anyone sees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5A6080"/>
                </a:solidFill>
                <a:latin typeface="Calibri"/>
              </a:rPr>
              <a:t>Model: Gemma 4 31B through OpenRouter (default), or Claude, behind one gateway (core/claude.py).</a:t>
            </a:r>
          </a:p>
          <a:p>
            <a:pPr algn="l"/>
            <a:r>
              <a:rPr sz="1600" b="0">
                <a:solidFill>
                  <a:srgbClr val="5A6080"/>
                </a:solidFill>
                <a:latin typeface="Calibri"/>
              </a:rPr>
              <a:t>Only providers that neither store nor train on prompts are used. The same cited pipeline answers mentions of the Sabeeli assistant in community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From question to cited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719072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2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1D48"/>
                </a:solidFill>
                <a:latin typeface="Calibri"/>
              </a:rPr>
              <a:t>Question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1E233F"/>
                </a:solidFill>
                <a:latin typeface="Calibri"/>
              </a:rPr>
              <a:t>text or photo, any language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86000" y="2743200"/>
            <a:ext cx="146304" cy="274320"/>
          </a:xfrm>
          <a:prstGeom prst="rightArrow">
            <a:avLst/>
          </a:prstGeom>
          <a:solidFill>
            <a:srgbClr val="323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50592" y="2011680"/>
            <a:ext cx="1719072" cy="173736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 w="15875">
            <a:solidFill>
              <a:srgbClr val="32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1D48"/>
                </a:solidFill>
                <a:latin typeface="Calibri"/>
              </a:rPr>
              <a:t>Analyse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1E233F"/>
                </a:solidFill>
                <a:latin typeface="Calibri"/>
              </a:rPr>
              <a:t>model: level A-D, search phrases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87952" y="2743200"/>
            <a:ext cx="146304" cy="274320"/>
          </a:xfrm>
          <a:prstGeom prst="rightArrow">
            <a:avLst/>
          </a:prstGeom>
          <a:solidFill>
            <a:srgbClr val="323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2011680"/>
            <a:ext cx="1719072" cy="173736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 w="15875">
            <a:solidFill>
              <a:srgbClr val="32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1D48"/>
                </a:solidFill>
                <a:latin typeface="Calibri"/>
              </a:rPr>
              <a:t>Retrieve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1E233F"/>
                </a:solidFill>
                <a:latin typeface="Calibri"/>
              </a:rPr>
              <a:t>E5 + BM25 over 10,626 approved records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89904" y="2743200"/>
            <a:ext cx="146304" cy="274320"/>
          </a:xfrm>
          <a:prstGeom prst="rightArrow">
            <a:avLst/>
          </a:prstGeom>
          <a:solidFill>
            <a:srgbClr val="323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2011680"/>
            <a:ext cx="1719072" cy="173736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 w="15875">
            <a:solidFill>
              <a:srgbClr val="32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1D48"/>
                </a:solidFill>
                <a:latin typeface="Calibri"/>
              </a:rPr>
              <a:t>Answer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1E233F"/>
                </a:solidFill>
                <a:latin typeface="Calibri"/>
              </a:rPr>
              <a:t>model: numbered sources, scripture as references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91856" y="2743200"/>
            <a:ext cx="146304" cy="274320"/>
          </a:xfrm>
          <a:prstGeom prst="rightArrow">
            <a:avLst/>
          </a:prstGeom>
          <a:solidFill>
            <a:srgbClr val="323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6448" y="2011680"/>
            <a:ext cx="1719072" cy="1737360"/>
          </a:xfrm>
          <a:prstGeom prst="roundRect">
            <a:avLst>
              <a:gd name="adj" fmla="val 12000"/>
            </a:avLst>
          </a:prstGeom>
          <a:solidFill>
            <a:srgbClr val="2EF2C2"/>
          </a:solidFill>
          <a:ln w="15875">
            <a:solidFill>
              <a:srgbClr val="32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1D48"/>
                </a:solidFill>
                <a:latin typeface="Calibri"/>
              </a:rPr>
              <a:t>Check in code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1E233F"/>
                </a:solidFill>
                <a:latin typeface="Calibri"/>
              </a:rPr>
              <a:t>grounding, scripture guard, markers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93808" y="2743200"/>
            <a:ext cx="146304" cy="274320"/>
          </a:xfrm>
          <a:prstGeom prst="rightArrow">
            <a:avLst/>
          </a:prstGeom>
          <a:solidFill>
            <a:srgbClr val="323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0" y="2011680"/>
            <a:ext cx="1719072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2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1D48"/>
                </a:solidFill>
                <a:latin typeface="Calibri"/>
              </a:rPr>
              <a:t>Show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1E233F"/>
                </a:solidFill>
                <a:latin typeface="Calibri"/>
              </a:rPr>
              <a:t>source card under every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Not enough in the sources? </a:t>
            </a:r>
            <a:r>
              <a:rPr sz="1700" b="0">
                <a:solidFill>
                  <a:srgbClr val="1E233F"/>
                </a:solidFill>
                <a:latin typeface="Calibri"/>
              </a:rPr>
              <a:t>The reply says so and offers a da'i, instead of filling the gap.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No model available? </a:t>
            </a:r>
            <a:r>
              <a:rPr sz="1700" b="0">
                <a:solidFill>
                  <a:srgbClr val="1E233F"/>
                </a:solidFill>
                <a:latin typeface="Calibri"/>
              </a:rPr>
              <a:t>Sources-only mode shows the matching approved passages without a written answer.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Transparent: </a:t>
            </a:r>
            <a:r>
              <a:rPr sz="1700" b="0">
                <a:solidFill>
                  <a:srgbClr val="1E233F"/>
                </a:solidFill>
                <a:latin typeface="Calibri"/>
              </a:rPr>
              <a:t>every answer has a "How I found this" sheet with passages, scores, removals and timings.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THE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Only the scholarly package's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5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87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554480"/>
                <a:gridCol w="1920240"/>
                <a:gridCol w="19202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Package page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Mushaf text, At-Tafsir Al-Muyassar, Rowwad English (QuranEnc)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p. 9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6,236 verses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cited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HadeethEnc: text, grade, explanation, lessons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pp. 9-10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3,574 hadiths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cited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icadb Q&amp;A encyclopedias (for non-Muslims, for Muslims)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p. 10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543 answers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cited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Amiri"/>
                        </a:rPr>
                        <a:t>بينات: أسئلة وأجوبة عن الإسلام (built locally, rights reserved)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p. 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263 questions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cited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Package glossary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p. 7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10 terms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cited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IslamHouse videos, streamed from IslamHouse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p. 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107 languages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shown, never cited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5A6080"/>
                </a:solidFill>
                <a:latin typeface="Calibri"/>
              </a:rPr>
              <a:t>Official APIs only, no scraping. Every record keeps its id and a link to the original page.</a:t>
            </a:r>
          </a:p>
          <a:p>
            <a:pPr algn="l"/>
            <a:r>
              <a:rPr sz="1600" b="0">
                <a:solidFill>
                  <a:srgbClr val="5A6080"/>
                </a:solidFill>
                <a:latin typeface="Calibri"/>
              </a:rPr>
              <a:t>Verses quoted inside Q&amp;A answers are re-linked to the Mushaf (1,849 markers), so the verse shown is always the Mushaf's.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Hybrid retrieval,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Natural units, never fixed chunks: </a:t>
            </a:r>
            <a:r>
              <a:rPr sz="1700" b="0">
                <a:solidFill>
                  <a:srgbClr val="1E233F"/>
                </a:solidFill>
                <a:latin typeface="Calibri"/>
              </a:rPr>
              <a:t>one verse, one hadith, one Q&amp;A item, each with a stable id (q:2:256, h:2962).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Semantic: </a:t>
            </a:r>
            <a:r>
              <a:rPr sz="1700" b="0">
                <a:solidFill>
                  <a:srgbClr val="1E233F"/>
                </a:solidFill>
                <a:latin typeface="Calibri"/>
              </a:rPr>
              <a:t>multilingual E5-large with FAISS, run locally. Arabic and English with the same meaning land together.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Keyword: </a:t>
            </a:r>
            <a:r>
              <a:rPr sz="1700" b="0">
                <a:solidFill>
                  <a:srgbClr val="1E233F"/>
                </a:solidFill>
                <a:latin typeface="Calibri"/>
              </a:rPr>
              <a:t>Arabic BM25 with Uthmani-aware normalisation.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Fusion: </a:t>
            </a:r>
            <a:r>
              <a:rPr sz="1700" b="0">
                <a:solidFill>
                  <a:srgbClr val="1E233F"/>
                </a:solidFill>
                <a:latin typeface="Calibri"/>
              </a:rPr>
              <a:t>weighted reciprocal rank, 70% dense / 30% BM25.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Answer slot: </a:t>
            </a:r>
            <a:r>
              <a:rPr sz="1700" b="0">
                <a:solidFill>
                  <a:srgbClr val="1E233F"/>
                </a:solidFill>
                <a:latin typeface="Calibri"/>
              </a:rPr>
              <a:t>the closest approved Q&amp;A answer (E5 ≥ 0.84) always gets a place.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1">
                <a:solidFill>
                  <a:srgbClr val="1E233F"/>
                </a:solidFill>
                <a:latin typeface="Calibri"/>
              </a:rPr>
              <a:t>Abstain: </a:t>
            </a:r>
            <a:r>
              <a:rPr sz="1700" b="0">
                <a:solidFill>
                  <a:srgbClr val="1E233F"/>
                </a:solidFill>
                <a:latin typeface="Calibri"/>
              </a:rPr>
              <a:t>below the bar the reply is "not found", never a weak 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931920" cy="438912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1D48"/>
                </a:solidFill>
                <a:latin typeface="Calibri"/>
              </a:rPr>
              <a:t>Expected source among the 8 passages the model reads</a:t>
            </a:r>
          </a:p>
          <a:p>
            <a:pPr algn="ctr"/>
            <a:r>
              <a:rPr sz="10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3000" b="1">
                <a:solidFill>
                  <a:srgbClr val="5A6080"/>
                </a:solidFill>
                <a:latin typeface="Calibri"/>
              </a:rPr>
              <a:t>17 / 23</a:t>
            </a:r>
          </a:p>
          <a:p>
            <a:pPr algn="ctr"/>
            <a:r>
              <a:rPr sz="1400" b="0">
                <a:solidFill>
                  <a:srgbClr val="1E233F"/>
                </a:solidFill>
                <a:latin typeface="Calibri"/>
              </a:rPr>
              <a:t>BM25 alone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3000" b="1">
                <a:solidFill>
                  <a:srgbClr val="323D68"/>
                </a:solidFill>
                <a:latin typeface="Calibri"/>
              </a:rPr>
              <a:t>22 / 23</a:t>
            </a:r>
          </a:p>
          <a:p>
            <a:pPr algn="ctr"/>
            <a:r>
              <a:rPr sz="1400" b="0">
                <a:solidFill>
                  <a:srgbClr val="1E233F"/>
                </a:solidFill>
                <a:latin typeface="Calibri"/>
              </a:rPr>
              <a:t>+ E5 hybrid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3000" b="1">
                <a:solidFill>
                  <a:srgbClr val="0A7A62"/>
                </a:solidFill>
                <a:latin typeface="Calibri"/>
              </a:rPr>
              <a:t>23 / 23</a:t>
            </a:r>
          </a:p>
          <a:p>
            <a:pPr algn="ctr"/>
            <a:r>
              <a:rPr sz="1400" b="0">
                <a:solidFill>
                  <a:srgbClr val="1E233F"/>
                </a:solidFill>
                <a:latin typeface="Calibri"/>
              </a:rPr>
              <a:t>+ answer slot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GROUNDED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The model cannot put words in the sources' mouth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Scripture by reference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The model writes [[q:2:255]] or [[h:3062]]. The app shows the stored verse or hadith. Any verse it types anyway is matched to the Mushaf and replaced.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Strict grounding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Every sentence must cite a retrieved passage or it is removed before display. Only short connectors pass (≤ 6 words, ≤ 3 at level D, no ruling words).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No citation, no answer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An answer left with no citation becomes the fixed "not found in the approved sources"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61188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161D48"/>
                </a:solidFill>
                <a:latin typeface="Calibri"/>
              </a:rPr>
              <a:t>Invented quotes removed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A quoted saying found in no retrieved passage, such as a hadith from memory, removes its whole sentence.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A6080"/>
                </a:solidFill>
                <a:latin typeface="Calibri"/>
              </a:rPr>
              <a:t>Faithfulness check: median E5 similarity 0.84 between 287 cited sentences and their passages; all 34 under 0.80 were read by hand and were faithful.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QUOTE AND PHOTO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Checking a quoted verse, word by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0">
                <a:solidFill>
                  <a:srgbClr val="1E233F"/>
                </a:solidFill>
                <a:latin typeface="Calibri"/>
              </a:rPr>
              <a:t>The seeker types or photographs a verse, or a saying presented as one.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0">
                <a:solidFill>
                  <a:srgbClr val="1E233F"/>
                </a:solidFill>
                <a:latin typeface="Calibri"/>
              </a:rPr>
              <a:t>The model only transcribes the photo. The comparison with the Mushaf is deterministic code.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0">
                <a:solidFill>
                  <a:srgbClr val="1E233F"/>
                </a:solidFill>
                <a:latin typeface="Calibri"/>
              </a:rPr>
              <a:t>Verdicts: exact · differs (each differing word shown) · several possible verses · not found in the Quran.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0">
                <a:solidFill>
                  <a:srgbClr val="1E233F"/>
                </a:solidFill>
                <a:latin typeface="Calibri"/>
              </a:rPr>
              <a:t>A saying printed as if it were a verse is caught, with no model judgement involved.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645920"/>
            <a:ext cx="4663440" cy="402336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1D48"/>
                </a:solidFill>
                <a:latin typeface="Calibri"/>
              </a:rPr>
              <a:t>Example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5A6080"/>
                </a:solidFill>
                <a:latin typeface="Calibri"/>
              </a:rPr>
              <a:t>Typed by the seeker:</a:t>
            </a:r>
          </a:p>
          <a:p>
            <a:pPr algn="ctr"/>
            <a:r>
              <a:rPr sz="3000" b="0">
                <a:solidFill>
                  <a:srgbClr val="1E233F"/>
                </a:solidFill>
                <a:latin typeface="Amiri"/>
              </a:rPr>
              <a:t>قل هو الله واحد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5A6080"/>
                </a:solidFill>
                <a:latin typeface="Calibri"/>
              </a:rPr>
              <a:t>Mushaf (112:1):</a:t>
            </a:r>
          </a:p>
          <a:p>
            <a:pPr algn="ctr"/>
            <a:r>
              <a:rPr sz="3000" b="0">
                <a:solidFill>
                  <a:srgbClr val="0A7A62"/>
                </a:solidFill>
                <a:latin typeface="Amiri"/>
              </a:rPr>
              <a:t>قُلۡ هُوَ ٱللَّهُ أَحَدٌ</a:t>
            </a:r>
          </a:p>
          <a:p>
            <a:pPr algn="ctr"/>
            <a:r>
              <a:rPr sz="6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1E233F"/>
                </a:solidFill>
                <a:latin typeface="Calibri"/>
              </a:rPr>
              <a:t>Verdict: differs in one word</a:t>
            </a:r>
          </a:p>
          <a:p>
            <a:pPr algn="ctr"/>
            <a:r>
              <a:rPr sz="2000" b="0">
                <a:solidFill>
                  <a:srgbClr val="1E233F"/>
                </a:solidFill>
                <a:latin typeface="Amiri"/>
              </a:rPr>
              <a:t>واحد بدل أحد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Scholarly safety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9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08760"/>
          <a:ext cx="6400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663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Sabeeli does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Answers with the source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Explains from approved material, with the reference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Notes that scholars differ, or refers to a specialist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D  personal case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33F"/>
                          </a:solidFill>
                          <a:latin typeface="Calibri"/>
                        </a:rPr>
                        <a:t>General information, the fatwa notice and a da'i. Never "allowed / required for you"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000">
                <a:solidFill>
                  <a:srgbClr val="0A7A62"/>
                </a:solidFill>
              </a:rPr>
              <a:t>■  </a:t>
            </a:r>
            <a:r>
              <a:rPr sz="1600" b="1">
                <a:solidFill>
                  <a:srgbClr val="1E233F"/>
                </a:solidFill>
                <a:latin typeface="Calibri"/>
              </a:rPr>
              <a:t>No personal fatwa </a:t>
            </a:r>
            <a:r>
              <a:rPr sz="1600" b="0">
                <a:solidFill>
                  <a:srgbClr val="1E233F"/>
                </a:solidFill>
                <a:latin typeface="Calibri"/>
              </a:rPr>
              <a:t>on any path, including sources-only mode.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0A7A62"/>
                </a:solidFill>
              </a:rPr>
              <a:t>■  </a:t>
            </a:r>
            <a:r>
              <a:rPr sz="1600" b="1">
                <a:solidFill>
                  <a:srgbClr val="1E233F"/>
                </a:solidFill>
                <a:latin typeface="Calibri"/>
              </a:rPr>
              <a:t>Human in the loop: </a:t>
            </a:r>
            <a:r>
              <a:rPr sz="1600" b="0">
                <a:solidFill>
                  <a:srgbClr val="1E233F"/>
                </a:solidFill>
                <a:latin typeface="Calibri"/>
              </a:rPr>
              <a:t>a live call with a da'i who speaks the seeker's language.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0A7A62"/>
                </a:solidFill>
              </a:rPr>
              <a:t>■  </a:t>
            </a:r>
            <a:r>
              <a:rPr sz="1600" b="1">
                <a:solidFill>
                  <a:srgbClr val="1E233F"/>
                </a:solidFill>
                <a:latin typeface="Calibri"/>
              </a:rPr>
              <a:t>Consent: </a:t>
            </a:r>
            <a:r>
              <a:rPr sz="1600" b="0">
                <a:solidFill>
                  <a:srgbClr val="1E233F"/>
                </a:solidFill>
                <a:latin typeface="Calibri"/>
              </a:rPr>
              <a:t>the referral card is shared only after the seeker approves it.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0A7A62"/>
                </a:solidFill>
              </a:rPr>
              <a:t>■  </a:t>
            </a:r>
            <a:r>
              <a:rPr sz="1600" b="1">
                <a:solidFill>
                  <a:srgbClr val="1E233F"/>
                </a:solidFill>
                <a:latin typeface="Calibri"/>
              </a:rPr>
              <a:t>Privacy: </a:t>
            </a:r>
            <a:r>
              <a:rPr sz="1600" b="0">
                <a:solidFill>
                  <a:srgbClr val="1E233F"/>
                </a:solidFill>
                <a:latin typeface="Calibri"/>
              </a:rPr>
              <a:t>anonymous by default, questions deleted after 24 h, synthetic data only in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Evaluated on 60 cases, 3 runs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0">
                <a:solidFill>
                  <a:srgbClr val="1E233F"/>
                </a:solidFill>
                <a:latin typeface="Calibri"/>
              </a:rPr>
              <a:t>30 Arabic, 30 English, including all 12 sample cases from the package (p. 6).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0">
                <a:solidFill>
                  <a:srgbClr val="1E233F"/>
                </a:solidFill>
                <a:latin typeface="Calibri"/>
              </a:rPr>
              <a:t>20 quotes and photos · 20 explanations and follow-ups · 10 limits (missing source, invented hadith, disputed matter) · 10 personal fatwa.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0A7A62"/>
                </a:solidFill>
              </a:rPr>
              <a:t>■  </a:t>
            </a:r>
            <a:r>
              <a:rPr sz="1700" b="0">
                <a:solidFill>
                  <a:srgbClr val="1E233F"/>
                </a:solidFill>
                <a:latin typeface="Calibri"/>
              </a:rPr>
              <a:t>A run passes only if every check passes: behaviour, expected source, grounding, no generated scripture, no personal ruling.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600200"/>
          <a:ext cx="5577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603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91440" marR="91440" anchor="ctr">
                    <a:solidFill>
                      <a:srgbClr val="161D4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33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33F"/>
                          </a:solidFill>
                          <a:latin typeface="Calibri"/>
                        </a:rPr>
                        <a:t>88% (53/60)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33F"/>
                          </a:solidFill>
                          <a:latin typeface="Calibri"/>
                        </a:rPr>
                        <a:t>After fixes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33F"/>
                          </a:solidFill>
                          <a:latin typeface="Calibri"/>
                        </a:rPr>
                        <a:t>95% (57/60)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33F"/>
                          </a:solidFill>
                          <a:latin typeface="Calibri"/>
                        </a:rPr>
                        <a:t>No model (fallback)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E233F"/>
                          </a:solidFill>
                          <a:latin typeface="Calibri"/>
                        </a:rPr>
                        <a:t>73% (44/60)</a:t>
                      </a:r>
                    </a:p>
                  </a:txBody>
                  <a:tcPr marL="91440" marR="91440" anchor="ctr">
                    <a:solidFill>
                      <a:srgbClr val="F2F4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E233F"/>
                          </a:solidFill>
                          <a:latin typeface="Calibri"/>
                        </a:rPr>
                        <a:t>Final, 3 runs per case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1E233F"/>
                          </a:solidFill>
                          <a:latin typeface="Calibri"/>
                        </a:rPr>
                        <a:t>100% (180/180)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35040" y="4709160"/>
            <a:ext cx="5577840" cy="1005840"/>
          </a:xfrm>
          <a:prstGeom prst="roundRect">
            <a:avLst>
              <a:gd name="adj" fmla="val 12000"/>
            </a:avLst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61D48"/>
                </a:solidFill>
                <a:latin typeface="Calibri"/>
              </a:rPr>
              <a:t>Personal fatwa: 30 / 30 safe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SPEED AND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Fast and cheap enough to run for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51760" cy="237744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61D48"/>
                </a:solidFill>
                <a:latin typeface="Calibri"/>
              </a:rPr>
              <a:t>2.8 s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median per answer</a:t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(3.7 s at p90)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737360"/>
            <a:ext cx="2651760" cy="237744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61D48"/>
                </a:solidFill>
                <a:latin typeface="Calibri"/>
              </a:rPr>
              <a:t>76 ms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all of retrieval</a:t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(E5 26 · FAISS 27 · BM25 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651760" cy="237744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61D48"/>
                </a:solidFill>
                <a:latin typeface="Calibri"/>
              </a:rPr>
              <a:t>$0.0007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per question</a:t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with Gemma 4 31B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1737360"/>
            <a:ext cx="2651760" cy="2377440"/>
          </a:xfrm>
          <a:prstGeom prst="roundRect">
            <a:avLst>
              <a:gd name="adj" fmla="val 12000"/>
            </a:avLst>
          </a:prstGeom>
          <a:solidFill>
            <a:srgbClr val="F2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61D48"/>
                </a:solidFill>
                <a:latin typeface="Calibri"/>
              </a:rPr>
              <a:t>229</a:t>
            </a:r>
          </a:p>
          <a:p>
            <a:pPr algn="ctr"/>
            <a:r>
              <a:rPr sz="400" b="0">
                <a:solidFill>
                  <a:srgbClr val="1E233F"/>
                </a:solidFill>
                <a:latin typeface="Calibri"/>
              </a:rPr>
              <a:t/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automated tests,</a:t>
            </a:r>
          </a:p>
          <a:p>
            <a:pPr algn="ctr"/>
            <a:r>
              <a:rPr sz="1500" b="0">
                <a:solidFill>
                  <a:srgbClr val="1E233F"/>
                </a:solidFill>
                <a:latin typeface="Calibri"/>
              </a:rPr>
              <a:t>model mocked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5A6080"/>
                </a:solidFill>
                <a:latin typeface="Calibri"/>
              </a:rPr>
              <a:t>The whole evaluation (300+ model answers) cost about $0.22. Every answer carries per-step timings, and the slow outliers are OpenRouter hosts, not retrieval.</a:t>
            </a:r>
          </a:p>
          <a:p>
            <a:pPr algn="l"/>
            <a:r>
              <a:rPr sz="1600" b="0">
                <a:solidFill>
                  <a:srgbClr val="5A6080"/>
                </a:solidFill>
                <a:latin typeface="Calibri"/>
              </a:rPr>
              <a:t>Deployment: website on Vercel, API on Render (Docker). Calls use WebRTC with optional TURN.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F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0A7A62"/>
                </a:solidFill>
                <a:latin typeface="Calibri"/>
              </a:rPr>
              <a:t>LIMITS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161D48"/>
                </a:solidFill>
                <a:latin typeface="Calibri"/>
              </a:rPr>
              <a:t>What we know is not done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A6080"/>
                </a:solidFill>
                <a:latin typeface="Calibri"/>
              </a:rPr>
              <a:t>Sabeeli · how the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A6080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1">
                <a:solidFill>
                  <a:srgbClr val="1E233F"/>
                </a:solidFill>
                <a:latin typeface="Calibri"/>
              </a:rPr>
              <a:t>Scholarly sign-off: </a:t>
            </a:r>
            <a:r>
              <a:rPr sz="1800" b="0">
                <a:solidFill>
                  <a:srgbClr val="1E233F"/>
                </a:solidFill>
                <a:latin typeface="Calibri"/>
              </a:rPr>
              <a:t>ask the reviewer to confirm At-Tafsir Al-Muyassar (p. 3 names other tafsir sources) and the corpus as a whole.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1">
                <a:solidFill>
                  <a:srgbClr val="1E233F"/>
                </a:solidFill>
                <a:latin typeface="Calibri"/>
              </a:rPr>
              <a:t>Live server: </a:t>
            </a:r>
            <a:r>
              <a:rPr sz="1800" b="0">
                <a:solidFill>
                  <a:srgbClr val="1E233F"/>
                </a:solidFill>
                <a:latin typeface="Calibri"/>
              </a:rPr>
              <a:t>the free host runs keyword search only and without بينات, so it says "not found" more often than the evaluated setup. No check is loosened.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1">
                <a:solidFill>
                  <a:srgbClr val="1E233F"/>
                </a:solidFill>
                <a:latin typeface="Calibri"/>
              </a:rPr>
              <a:t>Short scripture: </a:t>
            </a:r>
            <a:r>
              <a:rPr sz="1800" b="0">
                <a:solidFill>
                  <a:srgbClr val="1E233F"/>
                </a:solidFill>
                <a:latin typeface="Calibri"/>
              </a:rPr>
              <a:t>a verse under 7 words typed by the model without quotation marks can slip past the guard. It never reached the screen in the evaluation.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1">
                <a:solidFill>
                  <a:srgbClr val="1E233F"/>
                </a:solidFill>
                <a:latin typeface="Calibri"/>
              </a:rPr>
              <a:t>English: </a:t>
            </a:r>
            <a:r>
              <a:rPr sz="1800" b="0">
                <a:solidFill>
                  <a:srgbClr val="1E233F"/>
                </a:solidFill>
                <a:latin typeface="Calibri"/>
              </a:rPr>
              <a:t>the Q&amp;A sources are Arabic only; next, the package's English sources (icadb translations, IslamHouse, Byenah).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0A7A62"/>
                </a:solidFill>
              </a:rPr>
              <a:t>■  </a:t>
            </a:r>
            <a:r>
              <a:rPr sz="1800" b="1">
                <a:solidFill>
                  <a:srgbClr val="1E233F"/>
                </a:solidFill>
                <a:latin typeface="Calibri"/>
              </a:rPr>
              <a:t>Next: </a:t>
            </a:r>
            <a:r>
              <a:rPr sz="1800" b="0">
                <a:solidFill>
                  <a:srgbClr val="1E233F"/>
                </a:solidFill>
                <a:latin typeface="Calibri"/>
              </a:rPr>
              <a:t>stream answers, and measure benefit with real seekers and da'is.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